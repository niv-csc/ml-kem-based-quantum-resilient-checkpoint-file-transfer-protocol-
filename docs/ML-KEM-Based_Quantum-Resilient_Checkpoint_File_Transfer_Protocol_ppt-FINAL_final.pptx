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70" r:id="rId10"/>
    <p:sldId id="271" r:id="rId11"/>
    <p:sldId id="273" r:id="rId12"/>
    <p:sldId id="272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AA0CF-D17D-407F-95DF-7ACFC659183B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F7B86-927D-4113-83BB-090FE27022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51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96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3711773"/>
            <a:ext cx="7048500" cy="1605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1540222"/>
            <a:ext cx="11201400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003366"/>
                </a:solidFill>
                <a:latin typeface="Merriweather"/>
              </a:rPr>
              <a:t>ML-KEM-Based Quantum-Resilient Checkpoint File Transfer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0" y="2965102"/>
            <a:ext cx="28956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Open Sans"/>
              </a:rPr>
              <a:t>For Simulated 6G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5601" y="3959423"/>
            <a:ext cx="638079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7525" y="436899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Fathima Fahmiya S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(2024503003)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8413" y="4377555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Nivriti Muthuvairavan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(2024503005)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525" y="471948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Mounika KM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(2024503577)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8413" y="4719488"/>
            <a:ext cx="3038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Tharun P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(2024503579)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14475"/>
            <a:ext cx="5143500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14475"/>
            <a:ext cx="5143500" cy="4981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1809750"/>
            <a:ext cx="47805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1. The 6G Reliability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1809750"/>
            <a:ext cx="478059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2. The Quantum Cryptanalytic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2266950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Future 6G networks promise ultra-high speeds but rely on Terahertz (THz) frequencies.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3067050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These signals are highly vulnerable to physical blockage, user mobility, and frequent cell handovers.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4171950"/>
            <a:ext cx="4219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Existing secure file transfers (TCP/TLS) typically restart from scratch or retransmit massive data chunks after these frequent disconnections, wasting bandwidth.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2581275"/>
            <a:ext cx="4219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Traditional public-key cryptography (RSA, ECC) used for session security is vulnerable to future large-scale quantum computers running Shor's algorithm.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3990975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"Store Now, Decrypt Later" (SNDL) attacks necessitate immediate adoption of Post-Quantum Cryptography (PQC).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5095875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Open Sans"/>
              </a:rPr>
              <a:t>However, PQC introduces larger key sizes and processing overhead, making connection restarts even more costly.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22860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30861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41910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6003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0100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51149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Research Gaps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15144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Identified Gap 1: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Lack of lightweight, checkpoint-based recovery mechanisms that can resume a file transfer </a:t>
            </a:r>
            <a:r>
              <a:rPr sz="1500" b="0" i="1" u="none">
                <a:solidFill>
                  <a:srgbClr val="334155"/>
                </a:solidFill>
                <a:latin typeface="Open Sans"/>
              </a:rPr>
              <a:t>exactly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where it left off without repeating full key-exchanges.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3145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Identified Gap 2: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Post-quantum mechanisms (ML-KEM/CRYSTALS-Kyber) are not widely evaluated in combination with re</a:t>
            </a:r>
            <a:r>
              <a:rPr lang="en-IN" sz="1500" b="0" i="0" u="none" dirty="0" err="1">
                <a:solidFill>
                  <a:srgbClr val="334155"/>
                </a:solidFill>
                <a:latin typeface="Open Sans"/>
              </a:rPr>
              <a:t>covery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designs under realistic 6G network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114675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Identified Gap 3: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Unmeasured performance trade-offs between PQC overhead (larger ciphertexts) versus the reliability gains of checkpointing in edge scenarios.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914775"/>
            <a:ext cx="10334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Primary Objective: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Design, implement, and evaluate a quantum-resilient file transfer protocol combining ML-KEM, AES-256 GCM, and a checkpoint mechanism to automatically continue interrupted transfers over simulated 6G channels.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5335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3336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1337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3382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479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817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15500" y="1781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Proposed Methodology (12-Week Plan)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685925"/>
            <a:ext cx="10668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990" y="218122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1: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638425"/>
            <a:ext cx="32004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Literature review of NIST FIPS 203 (ML-KEM) and AES-256 GCM. Set up development environment (C++/Python, liboqs). Build 6G simulator (Mininet/NS-3) and conduct baseline experiments without checkpointing.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090" y="223839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2: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2781341"/>
            <a:ext cx="32004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Open Sans"/>
              </a:rPr>
              <a:t>Implement core protocol: ML-KEM session establishment, AES-256 chunk encryption. Develop checkpoint manager to log verified chunk hashes. Implement automatic resume logic handling simulated THz disruptions.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9590" y="2181225"/>
            <a:ext cx="33604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284C7"/>
                </a:solidFill>
                <a:latin typeface="Merriweather"/>
              </a:rPr>
              <a:t>Month 3: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38425"/>
            <a:ext cx="32004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Execute comparative testing: baseline vs. proposed protocol. Analyze recovery time, retransmission overhead, throughput, and PQC compute cost. Finalize IEEE format report and architectural diagrams.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65015"/>
            <a:ext cx="2986980" cy="3924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941" y="3046065"/>
            <a:ext cx="3413670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73" y="2265015"/>
            <a:ext cx="2986980" cy="392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2807940"/>
            <a:ext cx="266313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322290"/>
            <a:ext cx="2663130" cy="62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4046190"/>
            <a:ext cx="2663130" cy="628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4770090"/>
            <a:ext cx="266313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5303490"/>
            <a:ext cx="2663130" cy="628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8491" y="3655665"/>
            <a:ext cx="299457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8491" y="4170015"/>
            <a:ext cx="299457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8491" y="4684365"/>
            <a:ext cx="299457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04498" y="2807940"/>
            <a:ext cx="2663130" cy="628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04498" y="3531840"/>
            <a:ext cx="266313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498" y="4046190"/>
            <a:ext cx="2663130" cy="628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4498" y="4770090"/>
            <a:ext cx="2663130" cy="647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4498" y="5513040"/>
            <a:ext cx="266313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System Architecture (Block Diagram)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1514475"/>
            <a:ext cx="10668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Open Sans"/>
              </a:rPr>
              <a:t>Quantum-Resilient Checkpoint File Transfer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5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45135" y="4084290"/>
            <a:ext cx="24765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98767" y="4084290"/>
            <a:ext cx="2476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84425" y="2496442"/>
            <a:ext cx="18479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03366"/>
                </a:solidFill>
                <a:latin typeface="Merriweather"/>
              </a:rPr>
              <a:t>Sender 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2863" y="3303251"/>
            <a:ext cx="254019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Open Sans"/>
              </a:rPr>
              <a:t>Simulated 6G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3671" y="2454399"/>
            <a:ext cx="18077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03366"/>
                </a:solidFill>
                <a:latin typeface="Merriweather"/>
              </a:rPr>
              <a:t>Receiver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31A88524-E51E-BF3A-D5F1-EAD89492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19659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Environment Additions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to the ML-KEM Quantum-Resilient Checkpoint File Transfer Protocol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7383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Placement (Interface)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9427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427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Entity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14716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4716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D0F297D3-00C9-9411-A194-3F756F62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Placement: Which Interface?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C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 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/ E2 are O-RAN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interfaces (session setup, RIC control) — they do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 user file data. A file transfer rides the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plane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different path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682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1854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(THz air link)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112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(6G base st.)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686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858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/ NG-U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116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Plane Fn)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69096" y="3040380"/>
            <a:ext cx="10515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86216" y="1947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12096" y="2514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12096" y="25146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(Receiver)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6G-evolved user plane  (Rel-20 architecture, not yet frozen)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interface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8463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/ NG-U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RAN-to-core user plane. Closest honest analog to “pick one named interface,” and where your encrypted chunks actually flow.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2976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CF6E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97680"/>
            <a:ext cx="82296" cy="178308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disruptions happen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8463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air link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(6G-evolved THz) is where the blockages, handovers and losses you inject with </a:t>
            </a: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netem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occur — the trigger for checkpoint resume.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7611CB53-573A-B84D-362E-3625731BA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Entity: Who Moves the 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entity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— User Plane Function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entity whose entire job is forwarding user data packets.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 your encrypted chunks passes through it.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Sender and Receiver Nodes map to two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a UE and an app server in the Data Network); the UPF routes between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AF3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188720"/>
            <a:ext cx="82296" cy="2331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upgrade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state at the 6G edge (MEC)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verified chunk-index / hash state at an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(MEC) host co-located with the UPF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end-to-end only. The checkpoint then </a:t>
            </a: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at the edge even when the air link drops.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framing is defensible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10634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is the only 5G/6G entity that forwards user-plane data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reviewers expect the file to pass through it.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is designed as “integrated communication + computing”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pushing state to the edge is on-trend, not invented.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Edge-held checkpoint = stronger research contribution</a:t>
            </a: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resume works even when the end device loses the link.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1C2CC23-7237-1175-ECF9-2B14F73D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Environment: Ubuntu Linux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14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(64-bit) inside a </a:t>
            </a:r>
            <a:r>
              <a:rPr lang="en-US" sz="14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VM</a:t>
            </a:r>
            <a:r>
              <a:rPr lang="en-US" sz="14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entire project (simulation, crypto, capture, benchmarking) runs on one Linux VM.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FBECEC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Linux is mandatory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runs only on Linux (network namespaces).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/ netem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Linux kernel module; injects your 6G latency, jitter &amp; THz disruptions. No Win/Mac equivalent.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cleanly on Linux, painful elsewhere.</a:t>
            </a:r>
            <a:endParaRPr lang="en-US" sz="125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liboqs (ML-KEM / FIPS 203)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compiles out of the box on Ubuntu.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setup &amp; caveats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existing VMware setup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Wireshark labs.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4+ GB RAM and 4 cores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NS-3 compiles are heavy.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WSL2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flaky netem timing muddies your latency results.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results still hold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baseline vs. checkpoint is relative, so VM overhead cancels out.</a:t>
            </a:r>
            <a:endParaRPr lang="en-US" sz="1200" dirty="0"/>
          </a:p>
          <a:p>
            <a:pPr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Dual-boot only if</a:t>
            </a: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want cleaner absolute timing for the benchmark slides.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D8A2DFE2-8B5A-E7E7-9F00-B856E976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A → B — Protocol Flowchart with Delay Components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155448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 A)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8892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TCP connection (3-way handshake)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 RTT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handshake  pk 1184 B → ct 1088 B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1–2 ms (RTT dominates)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4380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HKDF → derive AES-256-GCM session key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µs-scale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21240" y="960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21240" y="96012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file into sequenced chunks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1394460"/>
            <a:ext cx="8229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55480" y="139446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27080" y="1828800"/>
            <a:ext cx="0" cy="68580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2124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chunk (AES-GCM + auth tag)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µs / chunk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 [seq | nonce | ct | tag]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T_tx = size ÷ bandwidth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EF4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decrypt, verify tag + hash, send ACK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RTT (ack)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88920" y="2514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3EC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{index, hash, key} — both sides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ms fsync — batch every N chunks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5548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4800600" y="294894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3794760" y="3383280"/>
            <a:ext cx="0" cy="68580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743200" y="4069080"/>
            <a:ext cx="210312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4069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ACKed?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4069080"/>
            <a:ext cx="219456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069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43800" y="4187952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BECE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187952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via RST / timeout → pause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s worst case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21240" y="4187952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CF6EA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4187952"/>
            <a:ext cx="2011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(backoff) + RESUME {sid, index} — no re-key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1s→2s→4s…  + 1 RTT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86200" y="52303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4370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33488" y="4370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617720"/>
            <a:ext cx="27432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0" y="4617720"/>
            <a:ext cx="22860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555480" y="4622292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794760" y="5166360"/>
            <a:ext cx="0" cy="64008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788920" y="5806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5806440"/>
            <a:ext cx="2011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SHA-256 whole-file verify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done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00600" y="6149340"/>
            <a:ext cx="54864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440680" y="5833872"/>
            <a:ext cx="137160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58338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7920" y="3913632"/>
            <a:ext cx="0" cy="155448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913632"/>
            <a:ext cx="58521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070080" y="2948940"/>
            <a:ext cx="0" cy="964692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932920" y="2948940"/>
            <a:ext cx="1371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54" name="Text 52"/>
          <p:cNvSpPr/>
          <p:nvPr/>
        </p:nvSpPr>
        <p:spPr>
          <a:xfrm>
            <a:off x="6355080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next chunk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927080" y="3703320"/>
            <a:ext cx="0" cy="484632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9640" y="3703320"/>
            <a:ext cx="237744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9640" y="3383280"/>
            <a:ext cx="0" cy="32004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  <a:headEnd type="triangle"/>
          </a:ln>
        </p:spPr>
      </p:sp>
      <p:sp>
        <p:nvSpPr>
          <p:cNvPr id="58" name="Text 56"/>
          <p:cNvSpPr/>
          <p:nvPr/>
        </p:nvSpPr>
        <p:spPr>
          <a:xfrm>
            <a:off x="864108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last verified index + 1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8813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402213F-E56E-7701-3CC7-99B688B11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6BBE3-4311-DE0D-C448-EA79C2AB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7" t="3249" r="3442" b="17546"/>
          <a:stretch>
            <a:fillRect/>
          </a:stretch>
        </p:blipFill>
        <p:spPr>
          <a:xfrm>
            <a:off x="285135" y="344129"/>
            <a:ext cx="11738917" cy="64007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0656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4C716D0-2388-7EC5-F4F4-E8DF46C3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Delay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delays (per packet)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280160"/>
          <a:ext cx="557784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6G sim value (netem)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÷ bandwidth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 @ 1 Gbps ≈ 0.52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÷ signal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0.1–1 ms (THz short range)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Queuing +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wait (the jitter)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0.5ms 0.2ms (± jitter)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delays (yours to measure)</a:t>
            </a:r>
            <a:endParaRPr lang="en-US" sz="14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6309360" y="1280160"/>
          <a:ext cx="557784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ML-KEM handshake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1–2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are µs; RTT dominates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per chunk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of µs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AES-NI runs at GB/s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 ms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fsync — batch or async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worst case; RST 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Reconnect + resume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 + 1 RTT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re-key, no re-send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11430000" cy="2057400"/>
          </a:xfrm>
          <a:prstGeom prst="roundRect">
            <a:avLst>
              <a:gd name="adj" fmla="val 3556"/>
            </a:avLst>
          </a:prstGeom>
          <a:solidFill>
            <a:srgbClr val="EEF4FA"/>
          </a:solidFill>
          <a:ln w="12700">
            <a:solidFill>
              <a:srgbClr val="CFDE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after a disruption — the headline metric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452628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checkpoint):   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detect + reconnect + FULL ML-KEM handshake + retransmit ALL verified chunks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protocol:            </a:t>
            </a: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detect + reconnect + 1 RTT resume + remaining chunks only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 file interrupted at 80% — baseline re-sends 80 MB (≈ 0.7 s pure transmission @ 1 Gbps) + a fresh 2.3 KB ML-KEM exchange; the proposed protocol re-sends ≈ 0. Plot this gap vs. interruption count.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1722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time.perf_counter() around each phase; separate network vs. processing delay via Wireshark timestamps; report mean ± std over 10+ runs.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6G Protocol Research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8813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71750"/>
            <a:ext cx="5143500" cy="1211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26085"/>
            <a:ext cx="5143500" cy="1211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14475"/>
            <a:ext cx="5143500" cy="1211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868810"/>
            <a:ext cx="5143500" cy="12114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223146"/>
            <a:ext cx="5143500" cy="1455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Checkpoint-Based Re</a:t>
            </a:r>
            <a:r>
              <a:rPr lang="en-IN" sz="3150" b="1" i="0" u="none" dirty="0" err="1">
                <a:solidFill>
                  <a:srgbClr val="003366"/>
                </a:solidFill>
                <a:latin typeface="Merriweather"/>
              </a:rPr>
              <a:t>covery</a:t>
            </a:r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287" y="1327845"/>
            <a:ext cx="5143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Open Sans"/>
              </a:rPr>
              <a:t>The core innovation reduces overhead during frequent 6G THz signal blockages by eliminating the need to re-execute the ML-KEM handshake or retransmit verified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771775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1. Initialization &amp;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095625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Establish ML-KEM session, derive AES-256 key. Split file into sequenced, encrypted chunks.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126110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2. Transmission &amp; Checkpointing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449960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Transmit chunks. Both nodes persist state (chunk index + hash + key material) after successful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1714500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3. Disruption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2038350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Detect TCP RST/FIN flags or timeouts simulating 6G cell handovers or physical blockages. Pause transfer.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068835"/>
            <a:ext cx="49506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3366"/>
                </a:solidFill>
                <a:latin typeface="Open Sans"/>
              </a:rPr>
              <a:t>4. Reconnection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392685"/>
            <a:ext cx="47148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Client waits for network restoration, utilizing exponential backoff algorithms.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423171"/>
            <a:ext cx="495061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3366"/>
                </a:solidFill>
                <a:latin typeface="Open Sans"/>
              </a:rPr>
              <a:t>5. Secure Re</a:t>
            </a:r>
            <a:r>
              <a:rPr lang="en-IN" sz="1350" b="1" i="0" u="none" dirty="0" err="1">
                <a:solidFill>
                  <a:srgbClr val="003366"/>
                </a:solidFill>
                <a:latin typeface="Open Sans"/>
              </a:rPr>
              <a:t>covery</a:t>
            </a:r>
            <a:endParaRPr sz="1350" b="1" i="0" u="none" dirty="0">
              <a:solidFill>
                <a:srgbClr val="003366"/>
              </a:solidFill>
              <a:latin typeface="Open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5100" y="4747021"/>
            <a:ext cx="47148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Reconnect, bypass full key exchange via saved state, and resume transmission from the last verified index. Verify final integrity upon completion.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14475"/>
            <a:ext cx="3365450" cy="466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200" y="1514475"/>
            <a:ext cx="3365450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514475"/>
            <a:ext cx="3365599" cy="466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State-of-the-Art Tools &amp;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390775"/>
            <a:ext cx="291364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Post-Quantum Crypto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847975"/>
            <a:ext cx="27749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liboqs (Open Quantum Safe):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C++ / Python bindings used to implement ML-KEM (FIPS 203) for key encapsulation.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210050"/>
            <a:ext cx="27749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PyCryptodome / OpenSSL: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Utilized for symmetric AES-256-GCM authenticated bulk encryption and HKDF key derivation.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475" y="2390775"/>
            <a:ext cx="291364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6G Channel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162300"/>
            <a:ext cx="27749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NS-3 / Mininet: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Creates accurate network topologies.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3914775"/>
            <a:ext cx="27749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Linux tc (Traffic Control) / netem: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Injects realistic 6G attributes including sub-millisecond latency, jitter, and modeled THz disruption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2390775"/>
            <a:ext cx="291380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Merriweather"/>
              </a:rPr>
              <a:t>Analysis &amp;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162300"/>
            <a:ext cx="27750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Wireshark: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Deep packet inspection to verify ciphertexts and AL framing.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4219575"/>
            <a:ext cx="27750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Open Sans"/>
              </a:rPr>
              <a:t>iPerf / Matplotlib: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Capturing throughput degradation data, measuring recovery latency, and plotting comparative performance graphs.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1895475"/>
            <a:ext cx="2667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475" y="1895475"/>
            <a:ext cx="3810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675" y="189547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3656" y="230982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03366"/>
                </a:solidFill>
                <a:latin typeface="Merriweather"/>
              </a:rPr>
              <a:t>Complexity Analysis &amp; Performance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235" y="847725"/>
            <a:ext cx="11543529" cy="280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Open Sans"/>
              </a:rPr>
              <a:t>Transitioning to PQC increases bandwidth overhead, necessitating the checkpoint resume architecture to maintain 6G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61443"/>
              </p:ext>
            </p:extLst>
          </p:nvPr>
        </p:nvGraphicFramePr>
        <p:xfrm>
          <a:off x="771527" y="1545584"/>
          <a:ext cx="10658473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6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1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Cryptographic Scheme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Security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Public Key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Ciphertext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Encapsulation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ECDH (NIST P-256)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Pre-Quantum (Vulnerable)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~1.2 x 10^6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8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ML-KEM-512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Post-Quantum (NIST L1)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800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768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~0.4 x 10^5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ML-KEM-768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Post-Quantum (NIST L3)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1184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1088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~0.6 x 10^5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5375" y="4689756"/>
            <a:ext cx="10334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Feasibility Assessment: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While ML-KEM requires significantly fewer CPU cycles (faster encapsulation), the public key and ciphertext sizes are </a:t>
            </a:r>
            <a:r>
              <a:rPr sz="1500" b="1" i="0" u="none" dirty="0">
                <a:solidFill>
                  <a:srgbClr val="0F172A"/>
                </a:solidFill>
                <a:latin typeface="Open Sans"/>
              </a:rPr>
              <a:t>&gt;12x larger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than traditional ECDH.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656" y="5550040"/>
            <a:ext cx="1033462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Open Sans"/>
              </a:rPr>
              <a:t>Conclusion:</a:t>
            </a:r>
            <a:r>
              <a:rPr sz="1500" b="0" i="0" u="none" dirty="0">
                <a:solidFill>
                  <a:srgbClr val="334155"/>
                </a:solidFill>
                <a:latin typeface="Open Sans"/>
              </a:rPr>
              <a:t> In a lossy 6G environment, restarting a connection without a checkpoint forces repeated transmission of these large ML-KEM payloads, degrading throughput. The proposed protocol mitigates this entirely.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826" y="471226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826" y="555004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0284C7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81750"/>
            <a:ext cx="10668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3366"/>
                </a:solidFill>
                <a:latin typeface="Merriweather"/>
              </a:rPr>
              <a:t>Literature Review &amp;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096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486525"/>
            <a:ext cx="19145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ML-KEM 6G Protocol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1375" y="6486525"/>
            <a:ext cx="428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Open Sans"/>
              </a:rPr>
              <a:t>Slide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739212"/>
              </p:ext>
            </p:extLst>
          </p:nvPr>
        </p:nvGraphicFramePr>
        <p:xfrm>
          <a:off x="762000" y="1262063"/>
          <a:ext cx="10658474" cy="544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FFFFFF"/>
                          </a:solidFill>
                          <a:latin typeface="Open Sans SemiBold"/>
                        </a:rPr>
                        <a:t>Reference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Focus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Open Sans SemiBold"/>
                        </a:rPr>
                        <a:t>Relevance to Proposed Solution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NIST FIPS 203 (Aug. 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Standardization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Provides the definitive technical specification for ML-KEM, guiding the implementation of the key encapsulation module.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Sosnowski et al. (CoNEXT '23)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Performance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Empirical analysis of Post-Quantum TLS 1.3 performance, serving as a baseline metric for our protocol's latency measurements.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Serghiou et al. (IEEE '22)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6G Propagation Modeling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Details Terahertz channel phenomena and blockage rates, used to parameterize the NS-3/Linux tc disruption simulation correctly.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IETF RFC 765 (FTP)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Protocol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Historical context on file transfer state management, highlighting the evolution required for modern, chunk-based resume mechanics.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1993</Words>
  <Application>Microsoft Office PowerPoint</Application>
  <PresentationFormat>Widescreen</PresentationFormat>
  <Paragraphs>267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Merriweather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Muthu Vairavan Kumar</dc:creator>
  <cp:keywords/>
  <dc:description>generated using python-pptx</dc:description>
  <cp:lastModifiedBy>nivriti muthuvairavan</cp:lastModifiedBy>
  <cp:revision>4</cp:revision>
  <dcterms:created xsi:type="dcterms:W3CDTF">2013-01-27T09:14:16Z</dcterms:created>
  <dcterms:modified xsi:type="dcterms:W3CDTF">2026-08-25T14:26:45Z</dcterms:modified>
  <cp:category/>
</cp:coreProperties>
</file>